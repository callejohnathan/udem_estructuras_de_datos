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Ralew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aleway-bold.fntdata"/><Relationship Id="rId25" Type="http://schemas.openxmlformats.org/officeDocument/2006/relationships/font" Target="fonts/Raleway-regular.fntdata"/><Relationship Id="rId28" Type="http://schemas.openxmlformats.org/officeDocument/2006/relationships/font" Target="fonts/Raleway-boldItalic.fntdata"/><Relationship Id="rId27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7.xml"/><Relationship Id="rId34" Type="http://schemas.openxmlformats.org/officeDocument/2006/relationships/font" Target="fonts/RobotoMono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8a4cde85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8a4cde85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d8a4cde85a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d8a4cde85a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300fe4a9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300fe4a9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300fe4a9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300fe4a9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300fe4a95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300fe4a9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09670962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0967096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34fc1ca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634fc1ca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d8a4cde85a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d8a4cde85a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d8a4cde85a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d8a4cde85a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8a4cde85a_0_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8a4cde85a_0_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d8a4cde85a_0_4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d8a4cde85a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d8a4cde85a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d8a4cde85a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d8a4cde85a_0_4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d8a4cde85a_0_4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d8a4cde85a_0_4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d8a4cde85a_0_4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d8a4cde85a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d8a4cde85a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d8a4cde85a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d8a4cde85a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8a4cde85a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8a4cde85a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8a4cde85a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8a4cde85a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spreadsheets/d/1UB5lM-Q84MGeAHj3E3qFzFF144z3gS-A/edit?usp=sharing&amp;ouid=100643571765817001791&amp;rtpof=true&amp;sd=true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rive.google.com/file/d/1qoWi_-EXOh0uKe2Ssle2Fdyn-GErPLYC/view?usp=drive_link" TargetMode="External"/><Relationship Id="rId4" Type="http://schemas.openxmlformats.org/officeDocument/2006/relationships/hyperlink" Target="https://drive.google.com/file/d/13DM11RHU7IzHr4KwPK3akdvhG5AG-JOt/view?usp=drive_link" TargetMode="External"/><Relationship Id="rId5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youtube.com/watch?v=rUUrmGKYwHw" TargetMode="External"/><Relationship Id="rId11" Type="http://schemas.openxmlformats.org/officeDocument/2006/relationships/hyperlink" Target="https://www.youtube.com/watch?v=NKmasqr_Xkw" TargetMode="External"/><Relationship Id="rId10" Type="http://schemas.openxmlformats.org/officeDocument/2006/relationships/hyperlink" Target="https://www.youtube.com/watch?v=zwb3GmNAtFk" TargetMode="External"/><Relationship Id="rId13" Type="http://schemas.openxmlformats.org/officeDocument/2006/relationships/hyperlink" Target="https://www.youtube.com/watch?v=A3ZUpyrnCbM&amp;t=2s" TargetMode="External"/><Relationship Id="rId12" Type="http://schemas.openxmlformats.org/officeDocument/2006/relationships/hyperlink" Target="https://www.youtube.com/watch?v=NKmasqr_Xkw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ww.youtube.com/watch?v=YwRjEOFxvO0" TargetMode="External"/><Relationship Id="rId4" Type="http://schemas.openxmlformats.org/officeDocument/2006/relationships/hyperlink" Target="https://www.youtube.com/watch?v=YwRjEOFxvO0" TargetMode="External"/><Relationship Id="rId9" Type="http://schemas.openxmlformats.org/officeDocument/2006/relationships/hyperlink" Target="https://www.youtube.com/watch?v=zwb3GmNAtFk" TargetMode="External"/><Relationship Id="rId15" Type="http://schemas.openxmlformats.org/officeDocument/2006/relationships/hyperlink" Target="https://www.youtube.com/watch?v=KInG04mAjO0" TargetMode="External"/><Relationship Id="rId14" Type="http://schemas.openxmlformats.org/officeDocument/2006/relationships/hyperlink" Target="https://www.youtube.com/watch?v=A3ZUpyrnCbM&amp;t=2s" TargetMode="External"/><Relationship Id="rId17" Type="http://schemas.openxmlformats.org/officeDocument/2006/relationships/hyperlink" Target="https://www.youtube.com/watch?v=6zmI_BU18xk" TargetMode="External"/><Relationship Id="rId16" Type="http://schemas.openxmlformats.org/officeDocument/2006/relationships/hyperlink" Target="https://www.youtube.com/watch?v=KInG04mAjO0" TargetMode="External"/><Relationship Id="rId5" Type="http://schemas.openxmlformats.org/officeDocument/2006/relationships/hyperlink" Target="https://www.youtube.com/watch?v=m1Fjdnj_Mds&amp;t=14s" TargetMode="External"/><Relationship Id="rId19" Type="http://schemas.openxmlformats.org/officeDocument/2006/relationships/hyperlink" Target="https://www.youtube.com/watch?v=rUUrmGKYwHw" TargetMode="External"/><Relationship Id="rId6" Type="http://schemas.openxmlformats.org/officeDocument/2006/relationships/hyperlink" Target="https://www.youtube.com/watch?v=m1Fjdnj_Mds&amp;t=14s" TargetMode="External"/><Relationship Id="rId18" Type="http://schemas.openxmlformats.org/officeDocument/2006/relationships/hyperlink" Target="https://www.youtube.com/watch?v=6zmI_BU18xk" TargetMode="External"/><Relationship Id="rId7" Type="http://schemas.openxmlformats.org/officeDocument/2006/relationships/hyperlink" Target="https://www.youtube.com/watch?v=IJDJ0kBx2LM&amp;t=17s" TargetMode="External"/><Relationship Id="rId8" Type="http://schemas.openxmlformats.org/officeDocument/2006/relationships/hyperlink" Target="https://www.youtube.com/watch?v=IJDJ0kBx2LM&amp;t=17s" TargetMode="External"/></Relationships>
</file>

<file path=ppt/slides/_rels/slide18.xml.rels><?xml version="1.0" encoding="UTF-8" standalone="yes"?><Relationships xmlns="http://schemas.openxmlformats.org/package/2006/relationships"><Relationship Id="rId20" Type="http://schemas.openxmlformats.org/officeDocument/2006/relationships/hyperlink" Target="https://www.youtube.com/watch?v=9yeVEqaXoNg" TargetMode="External"/><Relationship Id="rId11" Type="http://schemas.openxmlformats.org/officeDocument/2006/relationships/hyperlink" Target="https://www.youtube.com/watch?v=1-l_UOFi1Xw&amp;pp=ygUPdHJlZXMgaW4gcHl0aG9u" TargetMode="External"/><Relationship Id="rId10" Type="http://schemas.openxmlformats.org/officeDocument/2006/relationships/hyperlink" Target="https://www.youtube.com/watch?v=4r_XR9fUPhQ" TargetMode="External"/><Relationship Id="rId13" Type="http://schemas.openxmlformats.org/officeDocument/2006/relationships/hyperlink" Target="https://www.youtube.com/watch?v=6oL-0TdVy28" TargetMode="External"/><Relationship Id="rId12" Type="http://schemas.openxmlformats.org/officeDocument/2006/relationships/hyperlink" Target="https://www.youtube.com/watch?v=1-l_UOFi1Xw&amp;pp=ygUPdHJlZXMgaW4gcHl0aG9u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watch?v=JlMyYuY1aXU" TargetMode="External"/><Relationship Id="rId4" Type="http://schemas.openxmlformats.org/officeDocument/2006/relationships/hyperlink" Target="https://www.youtube.com/watch?v=JlMyYuY1aXU" TargetMode="External"/><Relationship Id="rId9" Type="http://schemas.openxmlformats.org/officeDocument/2006/relationships/hyperlink" Target="https://www.youtube.com/watch?v=4r_XR9fUPhQ" TargetMode="External"/><Relationship Id="rId15" Type="http://schemas.openxmlformats.org/officeDocument/2006/relationships/hyperlink" Target="https://www.youtube.com/watch?v=DlWxqU3LLpY" TargetMode="External"/><Relationship Id="rId14" Type="http://schemas.openxmlformats.org/officeDocument/2006/relationships/hyperlink" Target="https://www.youtube.com/watch?v=6oL-0TdVy28" TargetMode="External"/><Relationship Id="rId17" Type="http://schemas.openxmlformats.org/officeDocument/2006/relationships/hyperlink" Target="https://www.youtube.com/watch?v=j0IYCyBdzfA" TargetMode="External"/><Relationship Id="rId16" Type="http://schemas.openxmlformats.org/officeDocument/2006/relationships/hyperlink" Target="https://www.youtube.com/watch?v=DlWxqU3LLpY" TargetMode="External"/><Relationship Id="rId5" Type="http://schemas.openxmlformats.org/officeDocument/2006/relationships/hyperlink" Target="https://www.youtube.com/watch?v=qp8u-frRAnU&amp;t=54s" TargetMode="External"/><Relationship Id="rId19" Type="http://schemas.openxmlformats.org/officeDocument/2006/relationships/hyperlink" Target="https://www.youtube.com/watch?v=9yeVEqaXoNg" TargetMode="External"/><Relationship Id="rId6" Type="http://schemas.openxmlformats.org/officeDocument/2006/relationships/hyperlink" Target="https://www.youtube.com/watch?v=qp8u-frRAnU&amp;t=54s" TargetMode="External"/><Relationship Id="rId18" Type="http://schemas.openxmlformats.org/officeDocument/2006/relationships/hyperlink" Target="https://www.youtube.com/watch?v=j0IYCyBdzfA" TargetMode="External"/><Relationship Id="rId7" Type="http://schemas.openxmlformats.org/officeDocument/2006/relationships/hyperlink" Target="https://www.youtube.com/watch?v=WwfhLC16bis&amp;t=5s" TargetMode="External"/><Relationship Id="rId8" Type="http://schemas.openxmlformats.org/officeDocument/2006/relationships/hyperlink" Target="https://www.youtube.com/watch?v=WwfhLC16bis&amp;t=5s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colab.research.google.com/drive/1PHON5-BpCZwr_N39GuBKMcsMY92hdDeE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Estructuras de Datos Dinámicas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Johnathan Calle, Ph.D.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✅ Objetivo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Desarrollar la capacidad de diseñar, analizar e implementar estructuras de datos eficientes para la resolución de problemas computacionales, comprendiendo sus ventajas, desventajas y aplicaciones en escenarios del mundo real.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🎯 </a:t>
            </a:r>
            <a:r>
              <a:rPr lang="es"/>
              <a:t>Metodología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Clases Magistrales con Enfoque Práctico para el Aprendizaje Efectivo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Concepto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Explicaremos cada estructura de datos con claridad, abordando su funcionamiento, ventajas y casos de uso.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🔄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Refuerzo Práctico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Aplicaremos lo aprendido en ejercicios y retos de programación que simulan problemas reales.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🎯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Conocimiento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La combinación de teoría y práctica garantizará una comprensión profunda y aplicable de cada estructura.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Aprender haciendo: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 cada sesión, el énfasis estará en la implementación y la resolución de problemas, más que en la memorización.</a:t>
            </a:r>
            <a:endParaRPr sz="3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🎯 Metodología</a:t>
            </a:r>
            <a:endParaRPr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1957250"/>
            <a:ext cx="78588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Oportunidades por desempeño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10 % del curso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(calculado proporcionalmente según el número real de estudiantes activos) recibirá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bonificaciones en el examen final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 1 del curso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(mayor puntaje acumulado durante el semestre) será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eximido del examen final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🔁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Oportunidades de recuperación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Una recuperación por bloque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recuperación en el momento del </a:t>
            </a: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35 %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</a:pP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 recuperación en el momento del </a:t>
            </a:r>
            <a:r>
              <a:rPr b="1"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40 %</a:t>
            </a:r>
            <a: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recuperación se realizará mediante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ejercicios prácticos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sobre los temas del bloque.</a:t>
            </a:r>
            <a:endParaRPr b="1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🎯 Metodología</a:t>
            </a:r>
            <a:endParaRPr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1957250"/>
            <a:ext cx="78588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Proyección y comunidad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participación en la comunidad de programación competitiva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en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competencias reales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podrá otorgar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beneficios académicos adicionales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 definir y discutir durante el curso.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🎯 Metodología</a:t>
            </a:r>
            <a:endParaRPr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1957250"/>
            <a:ext cx="78588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📜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Acuerdos del curso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Cualquier intento de fraude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anulará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todas las bonificaciones y recuperaciones obtenidas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así como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posibilidad de acceder a beneficios futuros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celular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navegación en páginas ajenas a la actividad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cualquier distracción individual o colectiva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anulará la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posibilidad de obtener bonificaciones en esa clase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 bonificación requiere una explicación clara y coherente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del procedimiento;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sin explicación, no hay puntos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Cuando una solución se construya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manera colaborativa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las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bonificaciones se repartirán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entre los participantes involucrados.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s" sz="2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Recomendaciones Generales en Clase</a:t>
            </a:r>
            <a:endParaRPr sz="23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📴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el uso del celular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Durante las actividades y explicaciones, procura mantener el celular guardado para favorecer la concentración y el respeto por el tiempo de todos.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😷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tienes síntomas de gripa, usa tapabocas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Por el bienestar del grupo, te agradezco usar tapabocas si presentas congestión, tos u otros síntomas respiratorios.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🤫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interrumpas a tus compañeros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Escucha con atención cuando otros participan. El respeto por las ideas y el turno de palabra es clave para que todos podamos aprender mejor.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Participa y pregunta sin miedo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Este espacio es para aprender: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intenta, equivócate y vuelve a intentar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Cada duda que compartas puede aclarar el camino para todos. ¡Tu participación es valiosa!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📊 Evaluación y Cálculo de Notas</a:t>
            </a:r>
            <a:endParaRPr/>
          </a:p>
        </p:txBody>
      </p:sp>
      <p:sp>
        <p:nvSpPr>
          <p:cNvPr id="129" name="Google Shape;129;p20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Modelo de Calificación para parciales (80%): 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Nota alcanzada (3-4 ejercicios por examen - Evaluación casos de prueba)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Todos los parciales están sujetos a sustentación.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Modelo de Calificación para Práctica integradora (20%)</a:t>
            </a:r>
            <a:b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evaluación se compone de: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 (40%)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Desarrollo del código.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Sustentación Individual (60%)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Sustentación práctica + Explicación y justificación del código.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 Importante: Calificación Enlazada</a:t>
            </a:r>
            <a:b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 un estudiante solo completa una parte,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 calificación se ajustará en función del porcentaje alcanzado en la otra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📊 </a:t>
            </a:r>
            <a:r>
              <a:rPr lang="es"/>
              <a:t>Evaluación y Cálculo de Notas - Ejemplos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69450" y="1729675"/>
            <a:ext cx="4414200" cy="3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1 – Buen desempeño en ambas partes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4.8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ambas están completas, la nota final es: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(4.5 × 40%) + (4.8 × 60%) = 1.8 + 2.88 = 4.68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✅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2 – Implementación completa, pero sustentación parcial (80%)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3.2 (80% del total posible)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le asigna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80% de la implementación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 decir: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(4.5 × 0.8 × 40%) + (3.2 × 60%) = (3.6 × 40%) + (3.2 × 60%) = 1.44 + 1.92 = 3.36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⚠️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4392450" y="1714175"/>
            <a:ext cx="4574700" cy="33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3 – Sustentación completa, pero implementación parcial (50%)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2.5 (50% del total posible)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4.5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le asigna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50% de la sustentación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 decir: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(2.5 × 40%) + (4.5 × 0.5 × 60%) = 1.0 + (2.25 × 60%) = 1.0 + 1.35 = 2.35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❌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4 – No sustentó, aunque implementó correctamente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4.8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Sustentación: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0.0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le asigna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0% de la implementación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por lo que la nota final es: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(0 × 40%) + (0 × 60%) = 0.0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❌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💡 </a:t>
            </a:r>
            <a:r>
              <a:rPr lang="es"/>
              <a:t>Bloques Temáticos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¿Qué aprenderemos en este curso?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Exploraremos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datos fundamentales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permiten resolver problemas de manera eficiente y optimizada.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🔄 Recursión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Pensamiento recursivo, problemas clásicos (torres de Hanoi, Fibonacci, backtracking).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📚 Pilas y Colas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Estructuras LIFO y FIFO, aplicaciones en navegación, procesamiento de datos y control de flujo.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 Listas Enlazadas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Implementación eficiente, listas simples, dobles y circulares.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🌳 Árboles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Árboles binarios, BST, recorridos y búsqueda eficiente.</a:t>
            </a:r>
            <a:b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5️⃣ </a:t>
            </a:r>
            <a:r>
              <a:rPr b="1"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Grafos</a:t>
            </a:r>
            <a:r>
              <a:rPr lang="e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Modelado de redes, algoritmos de recorrido (BFS, DFS), y optimización.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📆 Calendario del Curso</a:t>
            </a:r>
            <a:endParaRPr/>
          </a:p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 del Curso y Fechas Clave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Bloques Temáticos: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1-3: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Recursión 🔄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4-5: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Listas Enlazadas 📚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6-8: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Pilas y Colas 🔗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9-12: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Árboles 🌳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12-15: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Grafos 🌐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Semana 16: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Práctica integradora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📎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 el calendario detallado aquí: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👉 🔗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Enlace al calendario del curso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¡Planifica tu tiempo y aprovecha cada sesión al máximo!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💡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" name="Google Shape;14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0650" y="2204850"/>
            <a:ext cx="5321776" cy="15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🛠️ Herramientas del Curso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Lenguaje de Programación: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🐍 – Usaremos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hints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mejorar la legibilidad y robustez del código.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Editor Recomendado: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VS Code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Ligero, potente y compatible con extensiones útiles para Python.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🌍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 en Herramientas: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Puedes usar cualquier lenguaje que soporte Programación Orientada a Objetos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enfoque está en los conceptos, no en la sintaxis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cada estudiante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sienta cómodo con su entorno de desarrollo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 aplique los principios de estructuras de datos en su lenguaje preferido. 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📢 Comunicación y Asesorías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Canales de Comunicación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💬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Chat y Canal de Teams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Espacio principal para resolver dudas y compartir información. (Instalarlo en el cel!!)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📧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jmcalle@udemedellin.edu.co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(Por definir)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Asesorías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Lugar: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4-108.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📍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Horario: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Lunes 2-3 p.m., Miércoles 6-8 a.m.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Sean claros en sus mensajes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Indiquen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curso al que pertenecen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agilizar la respuesta.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¡La comunicación efectiva es clave para tu éxito en el curso!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📊 Estadísticas de Semestres Anteriores</a:t>
            </a:r>
            <a:endParaRPr/>
          </a:p>
        </p:txBody>
      </p:sp>
      <p:sp>
        <p:nvSpPr>
          <p:cNvPr id="167" name="Google Shape;167;p26"/>
          <p:cNvSpPr txBox="1"/>
          <p:nvPr>
            <p:ph idx="1" type="body"/>
          </p:nvPr>
        </p:nvSpPr>
        <p:spPr>
          <a:xfrm>
            <a:off x="182075" y="1957250"/>
            <a:ext cx="49500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Tendencias de Desempeño en el Curso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📊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Distribución de Estudiantes según su Progreso: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1️⃣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🔵 G1 - Éxito desde el inicio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Dominan los conceptos desde el principio y mantienen un buen desempeño.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2️⃣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🟠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G2 - Recuperación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7%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Comienzan con dificultades, pero se adaptan y logran aprobar.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3️⃣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🔴 G3 - Dificultades constantes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54%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Pierden desde el inicio y no logran superar las barreras del curso.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4️⃣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🟢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G4 - Inestabilidad académica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23%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Alternan entre aprobar y reprobar, pero al final no logran pasar.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1075" y="1957250"/>
            <a:ext cx="4298826" cy="27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📊 Estadísticas de Semestres Anteriores</a:t>
            </a:r>
            <a:endParaRPr/>
          </a:p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30350" y="1957250"/>
            <a:ext cx="46809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Conclusión: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23% de los estudiantes logran aprobar (G1 + G2).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77% de los estudiantes presentan dificultades en algún momento del curso.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clave del éxito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 la adaptación temprana, la práctica constante y el uso de los recursos del curso.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📢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¡Aprovecha las asesorías, consulta dudas y mantente al día!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🚀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Final 2025-1 (Grupos 61, 62, 63, 64)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Final 2025-2 (Grupos 61,62, 64)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1075" y="1957250"/>
            <a:ext cx="4298826" cy="279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💡 Sugerencias para el Éxito en el Curso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8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🔄 Reforzar Conceptos Fundamentales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Programación básica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Asegúrate de dominar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estructuras de control de flujo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y funciones.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📚 Complementa tu Aprendizaje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🛠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 plataformas educativas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Practica en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LeetCode, HackerRank, CodeSignal, etc.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📖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Explora diferentes recursos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Blogs, videos, libros, papers... ¡y en inglés siempre que sea posible!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🚀 Adelántate a los Temas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Revisa el material antes de la clase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aprovechar mejor las sesiones.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🧠 Inteligencia Emocional y Resiliencia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Evita el síndrome del impostor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Todos aprenden a su ritmo. La clave es la práctica y la persistencia.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📢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¡El aprendizaje activo y la constancia marcan la diferencia!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🎯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🎥 Recursos Recomendados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9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Refuerza tu aprendizaje con estos videos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🔄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Recursión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🔗 Video 1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Introducción a la recursión.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6"/>
              </a:rPr>
              <a:t>🔗 Video 2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Ejemplos prácticos.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🔗 Video 3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Recursión y su aplicación.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📚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Pilas y Colas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🔗 Video 1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Conceptos básicos.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🔗 Video 2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Implementación práctica.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🔗 Video 3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Casos de uso.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🔗 Video 4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Algoritmos con pilas.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🔗 Video 5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Colas en acción.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🔗 Video 6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Pilas vs Colas.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🎥 Recursos Recomendados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729450" y="1957250"/>
            <a:ext cx="76887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Refuerza tu aprendizaje con estos videos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Listas Enlazadas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Video 1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Introducción.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Video 2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Implementación paso a paso.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🔗 Video 3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Aplicaciones y optimización.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🌳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Árboles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🔗 Video 1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Introducción a árboles en estructuras de datos.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🔗 Video 2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Implementación de árboles en Python.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🔗 Video 3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Árboles binarios y sus operaciones.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🔗 Video 4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Recorridos en árboles.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🌐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Grafos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🔗 Video 1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Introducción a grafos en programación.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📺</a:t>
            </a:r>
            <a:r>
              <a:rPr lang="es" sz="1100">
                <a:solidFill>
                  <a:srgbClr val="000000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20"/>
              </a:rPr>
              <a:t>🔗 Video 2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Algoritmos básicos en grafos.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🧩 Reto Diagnóstico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729450" y="1957250"/>
            <a:ext cx="7688700" cy="28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Evaluar los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fundamentos esenciales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desarrollar el curso.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Fomentar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trabajo en equipo y el análisis previo a la implementación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👥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Trabajo en parejas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Paso 1: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Discute y plantea una solución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 tu compañero. Explica el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paso a paso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antes de programar.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Paso 2: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Una vez acordado el enfoque,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cada uno programará de manera individual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📌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Reglas Claves: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Sean sinceros con su nivel de conocimiento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tanto con su compañero como consigo mismos.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Detecten y enfrenten tempranamente cualquier dificultad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✔️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se trata de los temas del curso, sino de los fundamentos previos</a:t>
            </a: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necesarios.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📎 </a:t>
            </a:r>
            <a: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Accede al reto aquí:</a:t>
            </a:r>
            <a:br>
              <a:rPr b="1" lang="es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👉 🔗 Reto Diagnóstico - Google Colab</a:t>
            </a:r>
            <a:endParaRPr sz="11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